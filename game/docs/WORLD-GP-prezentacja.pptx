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stęp" id="{f362bc20-0d84-d26d-0341-decedeae5a5a}">
          <p14:sldIdLst>
            <p14:sldId id="256"/>
            <p14:sldId id="257"/>
            <p14:sldId id="258"/>
          </p14:sldIdLst>
        </p14:section>
        <p14:section name="Uruchomienie" id="{c5ce2674-39bf-371d-08ff-54b9aba4e791}">
          <p14:sldIdLst>
            <p14:sldId id="259"/>
          </p14:sldIdLst>
        </p14:section>
        <p14:section name="Rozgrywka" id="{8efe7809-35d8-4c3e-a9ba-07c5ae4d1514}">
          <p14:sldIdLst>
            <p14:sldId id="260"/>
            <p14:sldId id="261"/>
            <p14:sldId id="262"/>
            <p14:sldId id="263"/>
            <p14:sldId id="264"/>
          </p14:sldIdLst>
        </p14:section>
        <p14:section name="Multiplayer" id="{fb417395-134b-3219-d8f5-b877e23b5961}">
          <p14:sldIdLst>
            <p14:sldId id="265"/>
            <p14:sldId id="266"/>
          </p14:sldIdLst>
        </p14:section>
        <p14:section name="Ustawienia" id="{f99a208d-5616-4b16-cf77-469382c12764}">
          <p14:sldIdLst>
            <p14:sldId id="267"/>
            <p14:sldId id="268"/>
          </p14:sldIdLst>
        </p14:section>
        <p14:section name="Projekt" id="{54313d8c-bd2c-d5da-f3d3-717376b983e6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Przedstawienie gry WORLD GP: wyścigi F1 działające w całości w przeglądarce.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Gałąź main nie zawiera gry, dlatego klonujemy z parametrem -b. Skrypty startowe same pobierają aktualizacje.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l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56692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i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86200"/>
            <a:ext cx="5486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kcja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rzut wyścigu" descr="/tmp/claude-0/-home-user-padok-f1/ad446ad7-6004-5edc-8614-94380b16ac33/scratchpad/doc/jpg/09-wyscig-kamera-za-bolide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01168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i="1" dirty="0">
                <a:solidFill>
                  <a:schemeClr val="bg1"/>
                </a:solidFill>
              </a:rPr>
              <a:t>WORLD</a:t>
            </a:r>
            <a:pPr algn="l" indent="0" marL="0">
              <a:buNone/>
            </a:pPr>
            <a:r>
              <a:rPr lang="en-US" sz="6600" b="1" i="1" dirty="0">
                <a:solidFill>
                  <a:schemeClr val="accent1"/>
                </a:solidFill>
              </a:rPr>
              <a:t> GP</a:t>
            </a:r>
            <a:endParaRPr lang="en-US" sz="6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8862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Wyścigowa gra F1 w przeglądarce: pełne 3D, weekend wyścigowy, kariera i multiplayer</a:t>
            </a:r>
            <a:endParaRPr lang="en-US" sz="2000" dirty="0"/>
          </a:p>
        </p:txBody>
      </p:sp>
      <p:sp>
        <p:nvSpPr>
          <p:cNvPr id="5" name="Wersja"/>
          <p:cNvSpPr txBox="1"/>
          <p:nvPr/>
        </p:nvSpPr>
        <p:spPr>
          <a:xfrm>
            <a:off x="548640" y="6035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Wersja 2026.10.13.4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Cała Formuła 1 w jednej karcie przeglądarki</a:t>
            </a:r>
            <a:endParaRPr lang="en-US" sz="3600" dirty="0"/>
          </a:p>
        </p:txBody>
      </p:sp>
      <p:sp>
        <p:nvSpPr>
          <p:cNvPr id="3" name="Liczba 1"/>
          <p:cNvSpPr txBox="1"/>
          <p:nvPr/>
        </p:nvSpPr>
        <p:spPr>
          <a:xfrm>
            <a:off x="548640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5,79 km</a:t>
            </a:r>
            <a:endParaRPr lang="en-US" sz="4000" dirty="0"/>
          </a:p>
        </p:txBody>
      </p:sp>
      <p:sp>
        <p:nvSpPr>
          <p:cNvPr id="4" name="Opis liczby 1"/>
          <p:cNvSpPr txBox="1"/>
          <p:nvPr/>
        </p:nvSpPr>
        <p:spPr>
          <a:xfrm>
            <a:off x="3017520" y="18562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tor Monza z prawdziwej geometrii</a:t>
            </a:r>
            <a:endParaRPr lang="en-US" sz="1500" dirty="0"/>
          </a:p>
        </p:txBody>
      </p:sp>
      <p:sp>
        <p:nvSpPr>
          <p:cNvPr id="5" name="Liczba 2"/>
          <p:cNvSpPr txBox="1"/>
          <p:nvPr/>
        </p:nvSpPr>
        <p:spPr>
          <a:xfrm>
            <a:off x="548640" y="2743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4000" dirty="0"/>
          </a:p>
        </p:txBody>
      </p:sp>
      <p:sp>
        <p:nvSpPr>
          <p:cNvPr id="6" name="Opis liczby 2"/>
          <p:cNvSpPr txBox="1"/>
          <p:nvPr/>
        </p:nvSpPr>
        <p:spPr>
          <a:xfrm>
            <a:off x="3017520" y="29077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bolidów w stawce</a:t>
            </a:r>
            <a:endParaRPr lang="en-US" sz="1500" dirty="0"/>
          </a:p>
        </p:txBody>
      </p:sp>
      <p:sp>
        <p:nvSpPr>
          <p:cNvPr id="7" name="Liczba 3"/>
          <p:cNvSpPr txBox="1"/>
          <p:nvPr/>
        </p:nvSpPr>
        <p:spPr>
          <a:xfrm>
            <a:off x="548640" y="37947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4000" dirty="0"/>
          </a:p>
        </p:txBody>
      </p:sp>
      <p:sp>
        <p:nvSpPr>
          <p:cNvPr id="8" name="Opis liczby 3"/>
          <p:cNvSpPr txBox="1"/>
          <p:nvPr/>
        </p:nvSpPr>
        <p:spPr>
          <a:xfrm>
            <a:off x="3017520" y="39593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okrążeń pełnego dystansu</a:t>
            </a:r>
            <a:endParaRPr lang="en-US" sz="1500" dirty="0"/>
          </a:p>
        </p:txBody>
      </p:sp>
      <p:pic>
        <p:nvPicPr>
          <p:cNvPr id="9" name="Menu główne" descr="/tmp/claude-0/-home-user-padok-f1/ad446ad7-6004-5edc-8614-94380b16ac33/scratchpad/doc/jpg/01-menu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508760"/>
            <a:ext cx="5605272" cy="3152966"/>
          </a:xfrm>
          <a:prstGeom prst="rect">
            <a:avLst/>
          </a:prstGeom>
        </p:spPr>
      </p:pic>
      <p:sp>
        <p:nvSpPr>
          <p:cNvPr id="10" name="Podpis menu"/>
          <p:cNvSpPr txBox="1"/>
          <p:nvPr/>
        </p:nvSpPr>
        <p:spPr>
          <a:xfrm>
            <a:off x="6035040" y="4800600"/>
            <a:ext cx="5605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Menu główne: kariera, szybki wyścig, multiplayer, kreator, ustawienia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 oferuje gra</a:t>
            </a:r>
            <a:endParaRPr lang="en-US" sz="3600" dirty="0"/>
          </a:p>
        </p:txBody>
      </p:sp>
      <p:sp>
        <p:nvSpPr>
          <p:cNvPr id="3" name="Karta Pełny weekend"/>
          <p:cNvSpPr/>
          <p:nvPr/>
        </p:nvSpPr>
        <p:spPr>
          <a:xfrm>
            <a:off x="548640" y="150876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ełny weekend koło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Pełny weekend ik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936699"/>
            <a:ext cx="332842" cy="332842"/>
          </a:xfrm>
          <a:prstGeom prst="rect">
            <a:avLst/>
          </a:prstGeom>
        </p:spPr>
      </p:pic>
      <p:sp>
        <p:nvSpPr>
          <p:cNvPr id="6" name="Nagłówek Pełny weekend"/>
          <p:cNvSpPr txBox="1"/>
          <p:nvPr/>
        </p:nvSpPr>
        <p:spPr>
          <a:xfrm>
            <a:off x="82296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Pełny weekend</a:t>
            </a:r>
            <a:endParaRPr lang="en-US" sz="1800" dirty="0"/>
          </a:p>
        </p:txBody>
      </p:sp>
      <p:sp>
        <p:nvSpPr>
          <p:cNvPr id="7" name="Opis Pełny weekend"/>
          <p:cNvSpPr txBox="1"/>
          <p:nvPr/>
        </p:nvSpPr>
        <p:spPr>
          <a:xfrm>
            <a:off x="822960" y="2926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Kwalifikacje Q1 · Q2 · Q3, pola startowe, start ze świateł</a:t>
            </a:r>
            <a:endParaRPr lang="en-US" sz="1400" dirty="0"/>
          </a:p>
        </p:txBody>
      </p:sp>
      <p:sp>
        <p:nvSpPr>
          <p:cNvPr id="8" name="Karta Strategia"/>
          <p:cNvSpPr/>
          <p:nvPr/>
        </p:nvSpPr>
        <p:spPr>
          <a:xfrm>
            <a:off x="4297680" y="150876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Strategia koło"/>
          <p:cNvSpPr/>
          <p:nvPr/>
        </p:nvSpPr>
        <p:spPr>
          <a:xfrm>
            <a:off x="457200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Strategia iko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19" y="1936699"/>
            <a:ext cx="332842" cy="332842"/>
          </a:xfrm>
          <a:prstGeom prst="rect">
            <a:avLst/>
          </a:prstGeom>
        </p:spPr>
      </p:pic>
      <p:sp>
        <p:nvSpPr>
          <p:cNvPr id="11" name="Nagłówek Strategia"/>
          <p:cNvSpPr txBox="1"/>
          <p:nvPr/>
        </p:nvSpPr>
        <p:spPr>
          <a:xfrm>
            <a:off x="457200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Strategia</a:t>
            </a:r>
            <a:endParaRPr lang="en-US" sz="1800" dirty="0"/>
          </a:p>
        </p:txBody>
      </p:sp>
      <p:sp>
        <p:nvSpPr>
          <p:cNvPr id="12" name="Opis Strategia"/>
          <p:cNvSpPr txBox="1"/>
          <p:nvPr/>
        </p:nvSpPr>
        <p:spPr>
          <a:xfrm>
            <a:off x="4572000" y="2926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Zużycie opon, 4 mieszanki, pit stopy z ogranicznikiem 80 km/h</a:t>
            </a:r>
            <a:endParaRPr lang="en-US" sz="1400" dirty="0"/>
          </a:p>
        </p:txBody>
      </p:sp>
      <p:sp>
        <p:nvSpPr>
          <p:cNvPr id="13" name="Karta Dyrekcja wyścigu"/>
          <p:cNvSpPr/>
          <p:nvPr/>
        </p:nvSpPr>
        <p:spPr>
          <a:xfrm>
            <a:off x="8046720" y="150876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Dyrekcja wyścigu koło"/>
          <p:cNvSpPr/>
          <p:nvPr/>
        </p:nvSpPr>
        <p:spPr>
          <a:xfrm>
            <a:off x="832104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Dyrekcja wyścigu ikon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59" y="1936699"/>
            <a:ext cx="332842" cy="332842"/>
          </a:xfrm>
          <a:prstGeom prst="rect">
            <a:avLst/>
          </a:prstGeom>
        </p:spPr>
      </p:pic>
      <p:sp>
        <p:nvSpPr>
          <p:cNvPr id="16" name="Nagłówek Dyrekcja wyścigu"/>
          <p:cNvSpPr txBox="1"/>
          <p:nvPr/>
        </p:nvSpPr>
        <p:spPr>
          <a:xfrm>
            <a:off x="832104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Dyrekcja wyścigu</a:t>
            </a:r>
            <a:endParaRPr lang="en-US" sz="1800" dirty="0"/>
          </a:p>
        </p:txBody>
      </p:sp>
      <p:sp>
        <p:nvSpPr>
          <p:cNvPr id="17" name="Opis Dyrekcja wyścigu"/>
          <p:cNvSpPr txBox="1"/>
          <p:nvPr/>
        </p:nvSpPr>
        <p:spPr>
          <a:xfrm>
            <a:off x="8321040" y="2926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Samochód bezpieczeństwa, VSC, awarie i wypadki AI</a:t>
            </a:r>
            <a:endParaRPr lang="en-US" sz="1400" dirty="0"/>
          </a:p>
        </p:txBody>
      </p:sp>
      <p:sp>
        <p:nvSpPr>
          <p:cNvPr id="18" name="Karta Multiplayer"/>
          <p:cNvSpPr/>
          <p:nvPr/>
        </p:nvSpPr>
        <p:spPr>
          <a:xfrm>
            <a:off x="548640" y="388620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Multiplayer koło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Multiplayer ikon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" y="4314139"/>
            <a:ext cx="332842" cy="332842"/>
          </a:xfrm>
          <a:prstGeom prst="rect">
            <a:avLst/>
          </a:prstGeom>
        </p:spPr>
      </p:pic>
      <p:sp>
        <p:nvSpPr>
          <p:cNvPr id="21" name="Nagłówek Multiplayer"/>
          <p:cNvSpPr txBox="1"/>
          <p:nvPr/>
        </p:nvSpPr>
        <p:spPr>
          <a:xfrm>
            <a:off x="822960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Multiplayer</a:t>
            </a:r>
            <a:endParaRPr lang="en-US" sz="1800" dirty="0"/>
          </a:p>
        </p:txBody>
      </p:sp>
      <p:sp>
        <p:nvSpPr>
          <p:cNvPr id="22" name="Opis Multiplayer"/>
          <p:cNvSpPr txBox="1"/>
          <p:nvPr/>
        </p:nvSpPr>
        <p:spPr>
          <a:xfrm>
            <a:off x="822960" y="5303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Własne lobby z kodem, gra przez internet z AI w stawce</a:t>
            </a:r>
            <a:endParaRPr lang="en-US" sz="1400" dirty="0"/>
          </a:p>
        </p:txBody>
      </p:sp>
      <p:sp>
        <p:nvSpPr>
          <p:cNvPr id="23" name="Karta Kariera"/>
          <p:cNvSpPr/>
          <p:nvPr/>
        </p:nvSpPr>
        <p:spPr>
          <a:xfrm>
            <a:off x="4297680" y="388620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Kariera koło"/>
          <p:cNvSpPr/>
          <p:nvPr/>
        </p:nvSpPr>
        <p:spPr>
          <a:xfrm>
            <a:off x="4572000" y="4160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Kariera ikon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619" y="4314139"/>
            <a:ext cx="332842" cy="332842"/>
          </a:xfrm>
          <a:prstGeom prst="rect">
            <a:avLst/>
          </a:prstGeom>
        </p:spPr>
      </p:pic>
      <p:sp>
        <p:nvSpPr>
          <p:cNvPr id="26" name="Nagłówek Kariera"/>
          <p:cNvSpPr txBox="1"/>
          <p:nvPr/>
        </p:nvSpPr>
        <p:spPr>
          <a:xfrm>
            <a:off x="4572000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Kariera</a:t>
            </a:r>
            <a:endParaRPr lang="en-US" sz="1800" dirty="0"/>
          </a:p>
        </p:txBody>
      </p:sp>
      <p:sp>
        <p:nvSpPr>
          <p:cNvPr id="27" name="Opis Kariera"/>
          <p:cNvSpPr txBox="1"/>
          <p:nvPr/>
        </p:nvSpPr>
        <p:spPr>
          <a:xfrm>
            <a:off x="4572000" y="5303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Kierowca albo właściciel zespołu, sezony i oferty</a:t>
            </a:r>
            <a:endParaRPr lang="en-US" sz="1400" dirty="0"/>
          </a:p>
        </p:txBody>
      </p:sp>
      <p:sp>
        <p:nvSpPr>
          <p:cNvPr id="28" name="Karta Kontrolery"/>
          <p:cNvSpPr/>
          <p:nvPr/>
        </p:nvSpPr>
        <p:spPr>
          <a:xfrm>
            <a:off x="8046720" y="388620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Kontrolery koło"/>
          <p:cNvSpPr/>
          <p:nvPr/>
        </p:nvSpPr>
        <p:spPr>
          <a:xfrm>
            <a:off x="8321040" y="4160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Kontrolery ikona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4659" y="4314139"/>
            <a:ext cx="332842" cy="332842"/>
          </a:xfrm>
          <a:prstGeom prst="rect">
            <a:avLst/>
          </a:prstGeom>
        </p:spPr>
      </p:pic>
      <p:sp>
        <p:nvSpPr>
          <p:cNvPr id="31" name="Nagłówek Kontrolery"/>
          <p:cNvSpPr txBox="1"/>
          <p:nvPr/>
        </p:nvSpPr>
        <p:spPr>
          <a:xfrm>
            <a:off x="8321040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Kontrolery</a:t>
            </a:r>
            <a:endParaRPr lang="en-US" sz="1800" dirty="0"/>
          </a:p>
        </p:txBody>
      </p:sp>
      <p:sp>
        <p:nvSpPr>
          <p:cNvPr id="32" name="Opis Kontrolery"/>
          <p:cNvSpPr txBox="1"/>
          <p:nvPr/>
        </p:nvSpPr>
        <p:spPr>
          <a:xfrm>
            <a:off x="8321040" y="5303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Klawiatura, pady, dotyk, adaptacyjne spusty DualSense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Uruchomienie: trzy kroki</a:t>
            </a:r>
            <a:endParaRPr lang="en-US" sz="3600" dirty="0"/>
          </a:p>
        </p:txBody>
      </p:sp>
      <p:sp>
        <p:nvSpPr>
          <p:cNvPr id="3" name="Krok 1"/>
          <p:cNvSpPr/>
          <p:nvPr/>
        </p:nvSpPr>
        <p:spPr>
          <a:xfrm>
            <a:off x="548640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umer kroku 1"/>
          <p:cNvSpPr txBox="1"/>
          <p:nvPr/>
        </p:nvSpPr>
        <p:spPr>
          <a:xfrm>
            <a:off x="54864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Nazwa kroku 1"/>
          <p:cNvSpPr txBox="1"/>
          <p:nvPr/>
        </p:nvSpPr>
        <p:spPr>
          <a:xfrm>
            <a:off x="1554480" y="15361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Wymagania</a:t>
            </a:r>
            <a:endParaRPr lang="en-US" sz="2000" dirty="0"/>
          </a:p>
        </p:txBody>
      </p:sp>
      <p:sp>
        <p:nvSpPr>
          <p:cNvPr id="6" name="Opis kroku 1"/>
          <p:cNvSpPr txBox="1"/>
          <p:nvPr/>
        </p:nvSpPr>
        <p:spPr>
          <a:xfrm>
            <a:off x="1554480" y="19385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Przeglądarka z WebGL, Git i Python 3 (macOS: xcode-select --install)</a:t>
            </a:r>
            <a:endParaRPr lang="en-US" sz="1400" dirty="0"/>
          </a:p>
        </p:txBody>
      </p:sp>
      <p:sp>
        <p:nvSpPr>
          <p:cNvPr id="7" name="Krok 2"/>
          <p:cNvSpPr/>
          <p:nvPr/>
        </p:nvSpPr>
        <p:spPr>
          <a:xfrm>
            <a:off x="548640" y="2971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umer kroku 2"/>
          <p:cNvSpPr txBox="1"/>
          <p:nvPr/>
        </p:nvSpPr>
        <p:spPr>
          <a:xfrm>
            <a:off x="54864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Nazwa kroku 2"/>
          <p:cNvSpPr txBox="1"/>
          <p:nvPr/>
        </p:nvSpPr>
        <p:spPr>
          <a:xfrm>
            <a:off x="1554480" y="2953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Pobranie</a:t>
            </a:r>
            <a:endParaRPr lang="en-US" sz="2000" dirty="0"/>
          </a:p>
        </p:txBody>
      </p:sp>
      <p:sp>
        <p:nvSpPr>
          <p:cNvPr id="10" name="Opis kroku 2"/>
          <p:cNvSpPr txBox="1"/>
          <p:nvPr/>
        </p:nvSpPr>
        <p:spPr>
          <a:xfrm>
            <a:off x="1554480" y="335584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git clone -b claude/f1-game-github-export-1jz93w https://github.com/danropl/padok-f1.git monza</a:t>
            </a:r>
            <a:endParaRPr lang="en-US" sz="1400" dirty="0"/>
          </a:p>
        </p:txBody>
      </p:sp>
      <p:sp>
        <p:nvSpPr>
          <p:cNvPr id="11" name="Krok 3"/>
          <p:cNvSpPr/>
          <p:nvPr/>
        </p:nvSpPr>
        <p:spPr>
          <a:xfrm>
            <a:off x="548640" y="43891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umer kroku 3"/>
          <p:cNvSpPr txBox="1"/>
          <p:nvPr/>
        </p:nvSpPr>
        <p:spPr>
          <a:xfrm>
            <a:off x="548640" y="4389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Nazwa kroku 3"/>
          <p:cNvSpPr txBox="1"/>
          <p:nvPr/>
        </p:nvSpPr>
        <p:spPr>
          <a:xfrm>
            <a:off x="1554480" y="4370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Start</a:t>
            </a:r>
            <a:endParaRPr lang="en-US" sz="2000" dirty="0"/>
          </a:p>
        </p:txBody>
      </p:sp>
      <p:sp>
        <p:nvSpPr>
          <p:cNvPr id="14" name="Opis kroku 3"/>
          <p:cNvSpPr txBox="1"/>
          <p:nvPr/>
        </p:nvSpPr>
        <p:spPr>
          <a:xfrm>
            <a:off x="1554480" y="47731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macOS: ./start.command · Windows: start.bat (oba robią git pull i otwierają grę)</a:t>
            </a:r>
            <a:endParaRPr lang="en-US" sz="1400" dirty="0"/>
          </a:p>
        </p:txBody>
      </p:sp>
      <p:sp>
        <p:nvSpPr>
          <p:cNvPr id="15" name="Karta poleceń"/>
          <p:cNvSpPr/>
          <p:nvPr/>
        </p:nvSpPr>
        <p:spPr>
          <a:xfrm>
            <a:off x="6492240" y="1554480"/>
            <a:ext cx="5148072" cy="4069080"/>
          </a:xfrm>
          <a:prstGeom prst="roundRect">
            <a:avLst>
              <a:gd name="adj" fmla="val 179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Nagłówek macOS"/>
          <p:cNvSpPr txBox="1"/>
          <p:nvPr/>
        </p:nvSpPr>
        <p:spPr>
          <a:xfrm>
            <a:off x="676656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macOS (Terminal)</a:t>
            </a:r>
            <a:endParaRPr lang="en-US" sz="1500" dirty="0"/>
          </a:p>
        </p:txBody>
      </p:sp>
      <p:sp>
        <p:nvSpPr>
          <p:cNvPr id="17" name="Polecenia macOS"/>
          <p:cNvSpPr txBox="1"/>
          <p:nvPr/>
        </p:nvSpPr>
        <p:spPr>
          <a:xfrm>
            <a:off x="6766560" y="21488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~/monza/game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./start.command</a:t>
            </a:r>
            <a:endParaRPr lang="en-US" sz="1400" dirty="0"/>
          </a:p>
        </p:txBody>
      </p:sp>
      <p:sp>
        <p:nvSpPr>
          <p:cNvPr id="18" name="Nagłówek Windows"/>
          <p:cNvSpPr txBox="1"/>
          <p:nvPr/>
        </p:nvSpPr>
        <p:spPr>
          <a:xfrm>
            <a:off x="676656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Windows (PowerShell)</a:t>
            </a:r>
            <a:endParaRPr lang="en-US" sz="1500" dirty="0"/>
          </a:p>
        </p:txBody>
      </p:sp>
      <p:sp>
        <p:nvSpPr>
          <p:cNvPr id="19" name="Polecenia Windows"/>
          <p:cNvSpPr txBox="1"/>
          <p:nvPr/>
        </p:nvSpPr>
        <p:spPr>
          <a:xfrm>
            <a:off x="6766560" y="3337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~\monza\game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.\start.bat</a:t>
            </a:r>
            <a:endParaRPr lang="en-US" sz="1400" dirty="0"/>
          </a:p>
        </p:txBody>
      </p:sp>
      <p:sp>
        <p:nvSpPr>
          <p:cNvPr id="20" name="Uwaga o wersji"/>
          <p:cNvSpPr txBox="1"/>
          <p:nvPr/>
        </p:nvSpPr>
        <p:spPr>
          <a:xfrm>
            <a:off x="6766560" y="42062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Wersja gry jest na dole menu. W multiplayer wszyscy gracze muszą mieć tę samą wersję.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Szybki wyścig: najpierw tor, potem zespół</a:t>
            </a:r>
            <a:endParaRPr lang="en-US" sz="3600" dirty="0"/>
          </a:p>
        </p:txBody>
      </p:sp>
      <p:pic>
        <p:nvPicPr>
          <p:cNvPr id="3" name="Wybór toru" descr="/tmp/claude-0/-home-user-padok-f1/ad446ad7-6004-5edc-8614-94380b16ac33/scratchpad/doc/jpg/04-wybor-toru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394960" cy="3034665"/>
          </a:xfrm>
          <a:prstGeom prst="rect">
            <a:avLst/>
          </a:prstGeom>
        </p:spPr>
      </p:pic>
      <p:pic>
        <p:nvPicPr>
          <p:cNvPr id="4" name="Ustawienia wyścigu" descr="/tmp/claude-0/-home-user-padok-f1/ad446ad7-6004-5edc-8614-94380b16ac33/scratchpad/doc/jpg/05-szybki-wysci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508760"/>
            <a:ext cx="5394960" cy="3034665"/>
          </a:xfrm>
          <a:prstGeom prst="rect">
            <a:avLst/>
          </a:prstGeom>
        </p:spPr>
      </p:pic>
      <p:sp>
        <p:nvSpPr>
          <p:cNvPr id="5" name="Podpis wyboru toru"/>
          <p:cNvSpPr txBox="1"/>
          <p:nvPr/>
        </p:nvSpPr>
        <p:spPr>
          <a:xfrm>
            <a:off x="548640" y="46634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Wybór toru z zarysem trasy, krajem, długością i liczbą zakrętów</a:t>
            </a:r>
            <a:endParaRPr lang="en-US" sz="1400" dirty="0"/>
          </a:p>
        </p:txBody>
      </p:sp>
      <p:sp>
        <p:nvSpPr>
          <p:cNvPr id="6" name="Podpis ustawień"/>
          <p:cNvSpPr txBox="1"/>
          <p:nvPr/>
        </p:nvSpPr>
        <p:spPr>
          <a:xfrm>
            <a:off x="6245352" y="46634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Zespół, kierowca, dystans do 53 okrążeń, kwalifikacje, opony, SC, pogoda i poziom rywali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Weekend: Q1 · Q2 · Q3 ustalają pola startowe</a:t>
            </a:r>
            <a:endParaRPr lang="en-US" sz="3600" dirty="0"/>
          </a:p>
        </p:txBody>
      </p:sp>
      <p:sp>
        <p:nvSpPr>
          <p:cNvPr id="3" name="Segment Q1"/>
          <p:cNvSpPr/>
          <p:nvPr/>
        </p:nvSpPr>
        <p:spPr>
          <a:xfrm>
            <a:off x="548640" y="1554480"/>
            <a:ext cx="448056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Nazwa Q1"/>
          <p:cNvSpPr txBox="1"/>
          <p:nvPr/>
        </p:nvSpPr>
        <p:spPr>
          <a:xfrm>
            <a:off x="777240" y="171907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3000" dirty="0"/>
          </a:p>
        </p:txBody>
      </p:sp>
      <p:sp>
        <p:nvSpPr>
          <p:cNvPr id="5" name="Opis Q1"/>
          <p:cNvSpPr txBox="1"/>
          <p:nvPr/>
        </p:nvSpPr>
        <p:spPr>
          <a:xfrm>
            <a:off x="1783080" y="17190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Cała stawka, odpada 5 najwolniejszych</a:t>
            </a:r>
            <a:endParaRPr lang="en-US" sz="1500" dirty="0"/>
          </a:p>
        </p:txBody>
      </p:sp>
      <p:sp>
        <p:nvSpPr>
          <p:cNvPr id="6" name="Segment Q2"/>
          <p:cNvSpPr/>
          <p:nvPr/>
        </p:nvSpPr>
        <p:spPr>
          <a:xfrm>
            <a:off x="548640" y="2697480"/>
            <a:ext cx="448056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Nazwa Q2"/>
          <p:cNvSpPr txBox="1"/>
          <p:nvPr/>
        </p:nvSpPr>
        <p:spPr>
          <a:xfrm>
            <a:off x="777240" y="286207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3000" dirty="0"/>
          </a:p>
        </p:txBody>
      </p:sp>
      <p:sp>
        <p:nvSpPr>
          <p:cNvPr id="8" name="Opis Q2"/>
          <p:cNvSpPr txBox="1"/>
          <p:nvPr/>
        </p:nvSpPr>
        <p:spPr>
          <a:xfrm>
            <a:off x="1783080" y="28620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15 najszybszych, odpada kolejnych 5</a:t>
            </a:r>
            <a:endParaRPr lang="en-US" sz="1500" dirty="0"/>
          </a:p>
        </p:txBody>
      </p:sp>
      <p:sp>
        <p:nvSpPr>
          <p:cNvPr id="9" name="Segment Q3"/>
          <p:cNvSpPr/>
          <p:nvPr/>
        </p:nvSpPr>
        <p:spPr>
          <a:xfrm>
            <a:off x="548640" y="3840480"/>
            <a:ext cx="448056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Nazwa Q3"/>
          <p:cNvSpPr txBox="1"/>
          <p:nvPr/>
        </p:nvSpPr>
        <p:spPr>
          <a:xfrm>
            <a:off x="777240" y="400507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3000" dirty="0"/>
          </a:p>
        </p:txBody>
      </p:sp>
      <p:sp>
        <p:nvSpPr>
          <p:cNvPr id="11" name="Opis Q3"/>
          <p:cNvSpPr txBox="1"/>
          <p:nvPr/>
        </p:nvSpPr>
        <p:spPr>
          <a:xfrm>
            <a:off x="1783080" y="40050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Dziesiątka walczy o pole position</a:t>
            </a:r>
            <a:endParaRPr lang="en-US" sz="1500" dirty="0"/>
          </a:p>
        </p:txBody>
      </p:sp>
      <p:sp>
        <p:nvSpPr>
          <p:cNvPr id="12" name="Uwaga kwalifikacje"/>
          <p:cNvSpPr txBox="1"/>
          <p:nvPr/>
        </p:nvSpPr>
        <p:spPr>
          <a:xfrm>
            <a:off x="548640" y="50749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Okrążenie jedziesz sam albo symulujesz. Przed startem wybierasz opony.</a:t>
            </a:r>
            <a:endParaRPr lang="en-US" sz="1400" dirty="0"/>
          </a:p>
        </p:txBody>
      </p:sp>
      <p:pic>
        <p:nvPicPr>
          <p:cNvPr id="13" name="Wyniki Q1" descr="/tmp/claude-0/-home-user-padok-f1/ad446ad7-6004-5edc-8614-94380b16ac33/scratchpad/doc/jpg/07-wyniki-q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554480"/>
            <a:ext cx="3017520" cy="1697355"/>
          </a:xfrm>
          <a:prstGeom prst="rect">
            <a:avLst/>
          </a:prstGeom>
        </p:spPr>
      </p:pic>
      <p:pic>
        <p:nvPicPr>
          <p:cNvPr id="14" name="Pola startowe" descr="/tmp/claude-0/-home-user-padok-f1/ad446ad7-6004-5edc-8614-94380b16ac33/scratchpad/doc/jpg/08-pola-startow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2" y="1554480"/>
            <a:ext cx="3017520" cy="1697355"/>
          </a:xfrm>
          <a:prstGeom prst="rect">
            <a:avLst/>
          </a:prstGeom>
        </p:spPr>
      </p:pic>
      <p:pic>
        <p:nvPicPr>
          <p:cNvPr id="15" name="Ekran Q1" descr="/tmp/claude-0/-home-user-padok-f1/ad446ad7-6004-5edc-8614-94380b16ac33/scratchpad/doc/jpg/06-kwalifikacj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3429000"/>
            <a:ext cx="3017520" cy="169735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Wyścig: wszystko na jednym ekranie</a:t>
            </a:r>
            <a:endParaRPr lang="en-US" sz="3600" dirty="0"/>
          </a:p>
        </p:txBody>
      </p:sp>
      <p:pic>
        <p:nvPicPr>
          <p:cNvPr id="3" name="Wyścig" descr="/tmp/claude-0/-home-user-padok-f1/ad446ad7-6004-5edc-8614-94380b16ac33/scratchpad/doc/jpg/09-wyscig-kamera-za-bolid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315200" cy="4114800"/>
          </a:xfrm>
          <a:prstGeom prst="rect">
            <a:avLst/>
          </a:prstGeom>
        </p:spPr>
      </p:pic>
      <p:sp>
        <p:nvSpPr>
          <p:cNvPr id="4" name="HUD Wieża czasowa"/>
          <p:cNvSpPr txBox="1"/>
          <p:nvPr/>
        </p:nvSpPr>
        <p:spPr>
          <a:xfrm>
            <a:off x="818388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Wieża czasowa</a:t>
            </a:r>
            <a:endParaRPr lang="en-US" sz="1800" dirty="0"/>
          </a:p>
        </p:txBody>
      </p:sp>
      <p:sp>
        <p:nvSpPr>
          <p:cNvPr id="5" name="HUD opis Wieża czasowa"/>
          <p:cNvSpPr txBox="1"/>
          <p:nvPr/>
        </p:nvSpPr>
        <p:spPr>
          <a:xfrm>
            <a:off x="818388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pozycje, odstępy, SC/VSC, PIT</a:t>
            </a:r>
            <a:endParaRPr lang="en-US" sz="1400" dirty="0"/>
          </a:p>
        </p:txBody>
      </p:sp>
      <p:sp>
        <p:nvSpPr>
          <p:cNvPr id="6" name="HUD Minimapa"/>
          <p:cNvSpPr txBox="1"/>
          <p:nvPr/>
        </p:nvSpPr>
        <p:spPr>
          <a:xfrm>
            <a:off x="8183880" y="24871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Minimapa</a:t>
            </a:r>
            <a:endParaRPr lang="en-US" sz="1800" dirty="0"/>
          </a:p>
        </p:txBody>
      </p:sp>
      <p:sp>
        <p:nvSpPr>
          <p:cNvPr id="7" name="HUD opis Minimapa"/>
          <p:cNvSpPr txBox="1"/>
          <p:nvPr/>
        </p:nvSpPr>
        <p:spPr>
          <a:xfrm>
            <a:off x="8183880" y="28529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pozycje bolidów na torze</a:t>
            </a:r>
            <a:endParaRPr lang="en-US" sz="1400" dirty="0"/>
          </a:p>
        </p:txBody>
      </p:sp>
      <p:sp>
        <p:nvSpPr>
          <p:cNvPr id="8" name="HUD Czasy"/>
          <p:cNvSpPr txBox="1"/>
          <p:nvPr/>
        </p:nvSpPr>
        <p:spPr>
          <a:xfrm>
            <a:off x="8183880" y="35112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Czasy</a:t>
            </a:r>
            <a:endParaRPr lang="en-US" sz="1800" dirty="0"/>
          </a:p>
        </p:txBody>
      </p:sp>
      <p:sp>
        <p:nvSpPr>
          <p:cNvPr id="9" name="HUD opis Czasy"/>
          <p:cNvSpPr txBox="1"/>
          <p:nvPr/>
        </p:nvSpPr>
        <p:spPr>
          <a:xfrm>
            <a:off x="8183880" y="387705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okrążenie, ostatnie, najlepsze</a:t>
            </a:r>
            <a:endParaRPr lang="en-US" sz="1400" dirty="0"/>
          </a:p>
        </p:txBody>
      </p:sp>
      <p:sp>
        <p:nvSpPr>
          <p:cNvPr id="10" name="HUD Bolid"/>
          <p:cNvSpPr txBox="1"/>
          <p:nvPr/>
        </p:nvSpPr>
        <p:spPr>
          <a:xfrm>
            <a:off x="8183880" y="45354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Bolid</a:t>
            </a:r>
            <a:endParaRPr lang="en-US" sz="1800" dirty="0"/>
          </a:p>
        </p:txBody>
      </p:sp>
      <p:sp>
        <p:nvSpPr>
          <p:cNvPr id="11" name="HUD opis Bolid"/>
          <p:cNvSpPr txBox="1"/>
          <p:nvPr/>
        </p:nvSpPr>
        <p:spPr>
          <a:xfrm>
            <a:off x="8183880" y="49011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prędkość, bieg, DRS, opony, uszkodzenia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Sześć kamer, w tym szczegółowy kokpit</a:t>
            </a:r>
            <a:endParaRPr lang="en-US" sz="3600" dirty="0"/>
          </a:p>
        </p:txBody>
      </p:sp>
      <p:pic>
        <p:nvPicPr>
          <p:cNvPr id="3" name="Kokpit" descr="/tmp/claude-0/-home-user-padok-f1/ad446ad7-6004-5edc-8614-94380b16ac33/scratchpad/doc/jpg/10-kokp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394960" cy="3034665"/>
          </a:xfrm>
          <a:prstGeom prst="rect">
            <a:avLst/>
          </a:prstGeom>
        </p:spPr>
      </p:pic>
      <p:pic>
        <p:nvPicPr>
          <p:cNvPr id="4" name="Kamera TV" descr="/tmp/claude-0/-home-user-padok-f1/ad446ad7-6004-5edc-8614-94380b16ac33/scratchpad/doc/jpg/11-kamera-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508760"/>
            <a:ext cx="5394960" cy="3034665"/>
          </a:xfrm>
          <a:prstGeom prst="rect">
            <a:avLst/>
          </a:prstGeom>
        </p:spPr>
      </p:pic>
      <p:sp>
        <p:nvSpPr>
          <p:cNvPr id="5" name="Podpis kokpitu"/>
          <p:cNvSpPr txBox="1"/>
          <p:nvPr/>
        </p:nvSpPr>
        <p:spPr>
          <a:xfrm>
            <a:off x="548640" y="46634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Kokpit: kierownica z wyświetlaczem i diodami, dłonie kierowcy, halo</a:t>
            </a:r>
            <a:endParaRPr lang="en-US" sz="1400" dirty="0"/>
          </a:p>
        </p:txBody>
      </p:sp>
      <p:sp>
        <p:nvSpPr>
          <p:cNvPr id="6" name="Podpis kamer"/>
          <p:cNvSpPr txBox="1"/>
          <p:nvPr/>
        </p:nvSpPr>
        <p:spPr>
          <a:xfrm>
            <a:off x="6245352" y="46634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Za bolidem, dalej, T-kamera, kokpit, TV, helikopter: przełączanie klawiszem C (pad: △)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Strategia decyduje o wyniku</a:t>
            </a:r>
            <a:endParaRPr lang="en-US" sz="3600" dirty="0"/>
          </a:p>
        </p:txBody>
      </p:sp>
      <p:sp>
        <p:nvSpPr>
          <p:cNvPr id="3" name="Karta Pit stopy"/>
          <p:cNvSpPr/>
          <p:nvPr/>
        </p:nvSpPr>
        <p:spPr>
          <a:xfrm>
            <a:off x="548640" y="1554480"/>
            <a:ext cx="3520440" cy="356616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it stopy koło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Pit stopy ik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050085"/>
            <a:ext cx="380390" cy="380390"/>
          </a:xfrm>
          <a:prstGeom prst="rect">
            <a:avLst/>
          </a:prstGeom>
        </p:spPr>
      </p:pic>
      <p:sp>
        <p:nvSpPr>
          <p:cNvPr id="6" name="Nagłówek Pit stopy"/>
          <p:cNvSpPr txBox="1"/>
          <p:nvPr/>
        </p:nvSpPr>
        <p:spPr>
          <a:xfrm>
            <a:off x="82296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Pit stopy</a:t>
            </a:r>
            <a:endParaRPr lang="en-US" sz="2000" dirty="0"/>
          </a:p>
        </p:txBody>
      </p:sp>
      <p:sp>
        <p:nvSpPr>
          <p:cNvPr id="7" name="Opis Pit stopy"/>
          <p:cNvSpPr txBox="1"/>
          <p:nvPr/>
        </p:nvSpPr>
        <p:spPr>
          <a:xfrm>
            <a:off x="822960" y="33375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B (pad: L1) zgłasza zjazd, 1–4 wybierają opony. Aleja prowadzona automatycznie, limit 80 km/h. Na suchym obowiązkowe dwie mieszanki.</a:t>
            </a:r>
            <a:endParaRPr lang="en-US" sz="1500" dirty="0"/>
          </a:p>
        </p:txBody>
      </p:sp>
      <p:sp>
        <p:nvSpPr>
          <p:cNvPr id="8" name="Karta SC i VSC"/>
          <p:cNvSpPr/>
          <p:nvPr/>
        </p:nvSpPr>
        <p:spPr>
          <a:xfrm>
            <a:off x="4297680" y="1554480"/>
            <a:ext cx="3520440" cy="356616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SC i VSC koło"/>
          <p:cNvSpPr/>
          <p:nvPr/>
        </p:nvSpPr>
        <p:spPr>
          <a:xfrm>
            <a:off x="4572000" y="18745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SC i VSC iko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565" y="2050085"/>
            <a:ext cx="380390" cy="380390"/>
          </a:xfrm>
          <a:prstGeom prst="rect">
            <a:avLst/>
          </a:prstGeom>
        </p:spPr>
      </p:pic>
      <p:sp>
        <p:nvSpPr>
          <p:cNvPr id="11" name="Nagłówek SC i VSC"/>
          <p:cNvSpPr txBox="1"/>
          <p:nvPr/>
        </p:nvSpPr>
        <p:spPr>
          <a:xfrm>
            <a:off x="457200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SC i VSC</a:t>
            </a:r>
            <a:endParaRPr lang="en-US" sz="2000" dirty="0"/>
          </a:p>
        </p:txBody>
      </p:sp>
      <p:sp>
        <p:nvSpPr>
          <p:cNvPr id="12" name="Opis SC i VSC"/>
          <p:cNvSpPr txBox="1"/>
          <p:nvPr/>
        </p:nvSpPr>
        <p:spPr>
          <a:xfrm>
            <a:off x="4572000" y="33375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Awarie i odłamki wywołują VSC albo samochód bezpieczeństwa. Stawka zwalnia, DRS wyłączony, restart z komunikatem.</a:t>
            </a:r>
            <a:endParaRPr lang="en-US" sz="1500" dirty="0"/>
          </a:p>
        </p:txBody>
      </p:sp>
      <p:sp>
        <p:nvSpPr>
          <p:cNvPr id="13" name="Karta Warunki"/>
          <p:cNvSpPr/>
          <p:nvPr/>
        </p:nvSpPr>
        <p:spPr>
          <a:xfrm>
            <a:off x="8046720" y="1554480"/>
            <a:ext cx="3520440" cy="356616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Warunki koło"/>
          <p:cNvSpPr/>
          <p:nvPr/>
        </p:nvSpPr>
        <p:spPr>
          <a:xfrm>
            <a:off x="8321040" y="1874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Warunki ikon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605" y="2050085"/>
            <a:ext cx="380390" cy="380390"/>
          </a:xfrm>
          <a:prstGeom prst="rect">
            <a:avLst/>
          </a:prstGeom>
        </p:spPr>
      </p:pic>
      <p:sp>
        <p:nvSpPr>
          <p:cNvPr id="16" name="Nagłówek Warunki"/>
          <p:cNvSpPr txBox="1"/>
          <p:nvPr/>
        </p:nvSpPr>
        <p:spPr>
          <a:xfrm>
            <a:off x="832104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Warunki</a:t>
            </a:r>
            <a:endParaRPr lang="en-US" sz="2000" dirty="0"/>
          </a:p>
        </p:txBody>
      </p:sp>
      <p:sp>
        <p:nvSpPr>
          <p:cNvPr id="17" name="Opis Warunki"/>
          <p:cNvSpPr txBox="1"/>
          <p:nvPr/>
        </p:nvSpPr>
        <p:spPr>
          <a:xfrm>
            <a:off x="8321040" y="33375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Słońce, chmury albo deszcz. Opony deszczowe, zużycie zależne od dystansu, uszkodzenia zmieniają docisk.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Multiplayer: lobby z kodem i wspólny weekend</a:t>
            </a:r>
            <a:endParaRPr lang="en-US" sz="3600" dirty="0"/>
          </a:p>
        </p:txBody>
      </p:sp>
      <p:pic>
        <p:nvPicPr>
          <p:cNvPr id="3" name="Lobby" descr="/tmp/claude-0/-home-user-padok-f1/ad446ad7-6004-5edc-8614-94380b16ac33/scratchpad/doc/jpg/14-lobb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1508760"/>
            <a:ext cx="5394960" cy="3034665"/>
          </a:xfrm>
          <a:prstGeom prst="rect">
            <a:avLst/>
          </a:prstGeom>
        </p:spPr>
      </p:pic>
      <p:sp>
        <p:nvSpPr>
          <p:cNvPr id="4" name="Krok MP 1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er MP 1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Opis MP 1"/>
          <p:cNvSpPr txBox="1"/>
          <p:nvPr/>
        </p:nvSpPr>
        <p:spPr>
          <a:xfrm>
            <a:off x="1188720" y="159105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Host: Multiplayer → Utwórz lobby</a:t>
            </a:r>
            <a:endParaRPr lang="en-US" sz="1600" dirty="0"/>
          </a:p>
        </p:txBody>
      </p:sp>
      <p:sp>
        <p:nvSpPr>
          <p:cNvPr id="7" name="Krok MP 2"/>
          <p:cNvSpPr/>
          <p:nvPr/>
        </p:nvSpPr>
        <p:spPr>
          <a:xfrm>
            <a:off x="548640" y="23042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umer MP 2"/>
          <p:cNvSpPr txBox="1"/>
          <p:nvPr/>
        </p:nvSpPr>
        <p:spPr>
          <a:xfrm>
            <a:off x="54864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Opis MP 2"/>
          <p:cNvSpPr txBox="1"/>
          <p:nvPr/>
        </p:nvSpPr>
        <p:spPr>
          <a:xfrm>
            <a:off x="1188720" y="234086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Drugi gracz: Dołącz kodem albo z listy</a:t>
            </a:r>
            <a:endParaRPr lang="en-US" sz="1600" dirty="0"/>
          </a:p>
        </p:txBody>
      </p:sp>
      <p:sp>
        <p:nvSpPr>
          <p:cNvPr id="10" name="Krok MP 3"/>
          <p:cNvSpPr/>
          <p:nvPr/>
        </p:nvSpPr>
        <p:spPr>
          <a:xfrm>
            <a:off x="548640" y="305409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umer MP 3"/>
          <p:cNvSpPr txBox="1"/>
          <p:nvPr/>
        </p:nvSpPr>
        <p:spPr>
          <a:xfrm>
            <a:off x="54864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Opis MP 3"/>
          <p:cNvSpPr txBox="1"/>
          <p:nvPr/>
        </p:nvSpPr>
        <p:spPr>
          <a:xfrm>
            <a:off x="1188720" y="30906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Każdy wybiera bolid i klika Gotowy</a:t>
            </a:r>
            <a:endParaRPr lang="en-US" sz="1600" dirty="0"/>
          </a:p>
        </p:txBody>
      </p:sp>
      <p:sp>
        <p:nvSpPr>
          <p:cNvPr id="13" name="Krok MP 4"/>
          <p:cNvSpPr/>
          <p:nvPr/>
        </p:nvSpPr>
        <p:spPr>
          <a:xfrm>
            <a:off x="548640" y="380390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er MP 4"/>
          <p:cNvSpPr txBox="1"/>
          <p:nvPr/>
        </p:nvSpPr>
        <p:spPr>
          <a:xfrm>
            <a:off x="54864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Opis MP 4"/>
          <p:cNvSpPr txBox="1"/>
          <p:nvPr/>
        </p:nvSpPr>
        <p:spPr>
          <a:xfrm>
            <a:off x="1188720" y="3840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Host ustawia tor i warunki, Start weekendu</a:t>
            </a:r>
            <a:endParaRPr lang="en-US" sz="1600" dirty="0"/>
          </a:p>
        </p:txBody>
      </p:sp>
      <p:sp>
        <p:nvSpPr>
          <p:cNvPr id="16" name="Krok MP 5"/>
          <p:cNvSpPr/>
          <p:nvPr/>
        </p:nvSpPr>
        <p:spPr>
          <a:xfrm>
            <a:off x="548640" y="45537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er MP 5"/>
          <p:cNvSpPr txBox="1"/>
          <p:nvPr/>
        </p:nvSpPr>
        <p:spPr>
          <a:xfrm>
            <a:off x="54864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Opis MP 5"/>
          <p:cNvSpPr txBox="1"/>
          <p:nvPr/>
        </p:nvSpPr>
        <p:spPr>
          <a:xfrm>
            <a:off x="1188720" y="45902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Wspólne kwalifikacje, wyścig i wyniki</a:t>
            </a:r>
            <a:endParaRPr lang="en-US" sz="1600" dirty="0"/>
          </a:p>
        </p:txBody>
      </p:sp>
      <p:sp>
        <p:nvSpPr>
          <p:cNvPr id="19" name="Podpis lobby"/>
          <p:cNvSpPr txBox="1"/>
          <p:nvPr/>
        </p:nvSpPr>
        <p:spPr>
          <a:xfrm>
            <a:off x="6245352" y="46634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Lobby przez Supabase Realtime, wyścig bezpośrednio między przeglądarkami (WebRTC), a gdy się nie da: przez serwer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Połączenie, które samo się naprawia</a:t>
            </a:r>
            <a:endParaRPr lang="en-US" sz="3600" dirty="0"/>
          </a:p>
        </p:txBody>
      </p:sp>
      <p:sp>
        <p:nvSpPr>
          <p:cNvPr id="3" name="Synchronizacja etapów koło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Synchronizacja etapów ik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751990"/>
            <a:ext cx="427939" cy="427939"/>
          </a:xfrm>
          <a:prstGeom prst="rect">
            <a:avLst/>
          </a:prstGeom>
        </p:spPr>
      </p:pic>
      <p:sp>
        <p:nvSpPr>
          <p:cNvPr id="5" name="Nagłówek Synchronizacja etapów"/>
          <p:cNvSpPr txBox="1"/>
          <p:nvPr/>
        </p:nvSpPr>
        <p:spPr>
          <a:xfrm>
            <a:off x="1645920" y="153619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Synchronizacja etapów</a:t>
            </a:r>
            <a:endParaRPr lang="en-US" sz="2000" dirty="0"/>
          </a:p>
        </p:txBody>
      </p:sp>
      <p:sp>
        <p:nvSpPr>
          <p:cNvPr id="6" name="Opis Synchronizacja etapów"/>
          <p:cNvSpPr txBox="1"/>
          <p:nvPr/>
        </p:nvSpPr>
        <p:spPr>
          <a:xfrm>
            <a:off x="1645920" y="196596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Host co 2 s nadaje numer etapu. Gracz, który coś zgubił, sam pobiera stan i nie utyka na ekranie oczekiwania.</a:t>
            </a:r>
            <a:endParaRPr lang="en-US" sz="1500" dirty="0"/>
          </a:p>
        </p:txBody>
      </p:sp>
      <p:sp>
        <p:nvSpPr>
          <p:cNvPr id="7" name="AI przejmuje bolid koło"/>
          <p:cNvSpPr/>
          <p:nvPr/>
        </p:nvSpPr>
        <p:spPr>
          <a:xfrm>
            <a:off x="548640" y="2926080"/>
            <a:ext cx="822960" cy="8229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AI przejmuje bolid iko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" y="3123590"/>
            <a:ext cx="427939" cy="427939"/>
          </a:xfrm>
          <a:prstGeom prst="rect">
            <a:avLst/>
          </a:prstGeom>
        </p:spPr>
      </p:pic>
      <p:sp>
        <p:nvSpPr>
          <p:cNvPr id="9" name="Nagłówek AI przejmuje bolid"/>
          <p:cNvSpPr txBox="1"/>
          <p:nvPr/>
        </p:nvSpPr>
        <p:spPr>
          <a:xfrm>
            <a:off x="1645920" y="290779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AI przejmuje bolid</a:t>
            </a:r>
            <a:endParaRPr lang="en-US" sz="2000" dirty="0"/>
          </a:p>
        </p:txBody>
      </p:sp>
      <p:sp>
        <p:nvSpPr>
          <p:cNvPr id="10" name="Opis AI przejmuje bolid"/>
          <p:cNvSpPr txBox="1"/>
          <p:nvPr/>
        </p:nvSpPr>
        <p:spPr>
          <a:xfrm>
            <a:off x="1645920" y="333756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Po rozłączeniu gracza jego bolid prowadzi AI, z zachowaniem okrążeń i czasów.</a:t>
            </a:r>
            <a:endParaRPr lang="en-US" sz="1500" dirty="0"/>
          </a:p>
        </p:txBody>
      </p:sp>
      <p:sp>
        <p:nvSpPr>
          <p:cNvPr id="11" name="Jedna wersja gry koło"/>
          <p:cNvSpPr/>
          <p:nvPr/>
        </p:nvSpPr>
        <p:spPr>
          <a:xfrm>
            <a:off x="548640" y="4297680"/>
            <a:ext cx="822960" cy="8229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Jedna wersja gry ikon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4495190"/>
            <a:ext cx="427939" cy="427939"/>
          </a:xfrm>
          <a:prstGeom prst="rect">
            <a:avLst/>
          </a:prstGeom>
        </p:spPr>
      </p:pic>
      <p:sp>
        <p:nvSpPr>
          <p:cNvPr id="13" name="Nagłówek Jedna wersja gry"/>
          <p:cNvSpPr txBox="1"/>
          <p:nvPr/>
        </p:nvSpPr>
        <p:spPr>
          <a:xfrm>
            <a:off x="1645920" y="427939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Jedna wersja gry</a:t>
            </a:r>
            <a:endParaRPr lang="en-US" sz="2000" dirty="0"/>
          </a:p>
        </p:txBody>
      </p:sp>
      <p:sp>
        <p:nvSpPr>
          <p:cNvPr id="14" name="Opis Jedna wersja gry"/>
          <p:cNvSpPr txBox="1"/>
          <p:nvPr/>
        </p:nvSpPr>
        <p:spPr>
          <a:xfrm>
            <a:off x="1645920" y="470916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Host wpuszcza tylko graczy z tą samą wersją i mówi, jak zaktualizować grę.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Sterowanie: klawiatura i pad</a:t>
            </a:r>
            <a:endParaRPr lang="en-US" sz="3600" dirty="0"/>
          </a:p>
        </p:txBody>
      </p:sp>
      <p:graphicFrame>
        <p:nvGraphicFramePr>
          <p:cNvPr id="13" name="Tabela sterowani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0350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73736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Akcja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Klawiatura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 / hamulec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W / ↓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/ L2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Skręt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 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Lewa gałka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 / 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Powrót na 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Kamera / patrz do tyłu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/ 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/ □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Zjazd do boksu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Opony na pit stop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Krzyżak ▲▼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Pauza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Ustawienia: sterowanie" descr="/tmp/claude-0/-home-user-padok-f1/ad446ad7-6004-5edc-8614-94380b16ac33/scratchpad/doc/jpg/03-sterowani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508760"/>
            <a:ext cx="4690872" cy="2638616"/>
          </a:xfrm>
          <a:prstGeom prst="rect">
            <a:avLst/>
          </a:prstGeom>
        </p:spPr>
      </p:pic>
      <p:sp>
        <p:nvSpPr>
          <p:cNvPr id="5" name="Podpis sterowania"/>
          <p:cNvSpPr txBox="1"/>
          <p:nvPr/>
        </p:nvSpPr>
        <p:spPr>
          <a:xfrm>
            <a:off x="6949440" y="4251960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Opis klawiszy jest w Ustawieniach, w sekcji Sterowanie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DualSense i zapis gry</a:t>
            </a:r>
            <a:endParaRPr lang="en-US" sz="3600" dirty="0"/>
          </a:p>
        </p:txBody>
      </p:sp>
      <p:sp>
        <p:nvSpPr>
          <p:cNvPr id="3" name="Karta DualSense"/>
          <p:cNvSpPr/>
          <p:nvPr/>
        </p:nvSpPr>
        <p:spPr>
          <a:xfrm>
            <a:off x="548640" y="1554480"/>
            <a:ext cx="539496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DualSense koło"/>
          <p:cNvSpPr/>
          <p:nvPr/>
        </p:nvSpPr>
        <p:spPr>
          <a:xfrm>
            <a:off x="82296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DualSense ik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004365"/>
            <a:ext cx="380390" cy="380390"/>
          </a:xfrm>
          <a:prstGeom prst="rect">
            <a:avLst/>
          </a:prstGeom>
        </p:spPr>
      </p:pic>
      <p:sp>
        <p:nvSpPr>
          <p:cNvPr id="6" name="Nagłówek DualSense"/>
          <p:cNvSpPr txBox="1"/>
          <p:nvPr/>
        </p:nvSpPr>
        <p:spPr>
          <a:xfrm>
            <a:off x="822960" y="2743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Adaptacyjne spusty</a:t>
            </a:r>
            <a:endParaRPr lang="en-US" sz="2000" dirty="0"/>
          </a:p>
        </p:txBody>
      </p:sp>
      <p:sp>
        <p:nvSpPr>
          <p:cNvPr id="7" name="Opis DualSense"/>
          <p:cNvSpPr txBox="1"/>
          <p:nvPr/>
        </p:nvSpPr>
        <p:spPr>
          <a:xfrm>
            <a:off x="822960" y="324612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L2 twardnieje jak pedał hamulca i drży przy blokowaniu kół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R2 drży przy buksowaniu, na żwirze i krawężnikach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Działa w Chrome i Edge (WebHID)</a:t>
            </a:r>
            <a:endParaRPr lang="en-US" sz="1500" dirty="0"/>
          </a:p>
        </p:txBody>
      </p:sp>
      <p:sp>
        <p:nvSpPr>
          <p:cNvPr id="8" name="Karta zapisu"/>
          <p:cNvSpPr/>
          <p:nvPr/>
        </p:nvSpPr>
        <p:spPr>
          <a:xfrm>
            <a:off x="6245352" y="1554480"/>
            <a:ext cx="539496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Zapis koło"/>
          <p:cNvSpPr/>
          <p:nvPr/>
        </p:nvSpPr>
        <p:spPr>
          <a:xfrm>
            <a:off x="6519672" y="182880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Zapis iko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237" y="2004365"/>
            <a:ext cx="380390" cy="380390"/>
          </a:xfrm>
          <a:prstGeom prst="rect">
            <a:avLst/>
          </a:prstGeom>
        </p:spPr>
      </p:pic>
      <p:sp>
        <p:nvSpPr>
          <p:cNvPr id="11" name="Nagłówek zapisu"/>
          <p:cNvSpPr txBox="1"/>
          <p:nvPr/>
        </p:nvSpPr>
        <p:spPr>
          <a:xfrm>
            <a:off x="6519672" y="2743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Zapis w przeglądarce</a:t>
            </a:r>
            <a:endParaRPr lang="en-US" sz="2000" dirty="0"/>
          </a:p>
        </p:txBody>
      </p:sp>
      <p:sp>
        <p:nvSpPr>
          <p:cNvPr id="12" name="Opis zapisu"/>
          <p:cNvSpPr txBox="1"/>
          <p:nvPr/>
        </p:nvSpPr>
        <p:spPr>
          <a:xfrm>
            <a:off x="6519672" y="324612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Ciasteczka i localStorage, wczytywany nowszy zapis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Każdy komputer i przeglądarka ma osobny postęp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Postęp nie znika po zmianie portu localhost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Budowa projektu: statyczna strona</a:t>
            </a:r>
            <a:endParaRPr lang="en-US" sz="3600" dirty="0"/>
          </a:p>
        </p:txBody>
      </p:sp>
      <p:sp>
        <p:nvSpPr>
          <p:cNvPr id="3" name="Moduł Tor i fizyka"/>
          <p:cNvSpPr/>
          <p:nvPr/>
        </p:nvSpPr>
        <p:spPr>
          <a:xfrm>
            <a:off x="548640" y="1554480"/>
            <a:ext cx="539496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or i fizyka koło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Tor i fizyka ik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936699"/>
            <a:ext cx="332842" cy="332842"/>
          </a:xfrm>
          <a:prstGeom prst="rect">
            <a:avLst/>
          </a:prstGeom>
        </p:spPr>
      </p:pic>
      <p:sp>
        <p:nvSpPr>
          <p:cNvPr id="6" name="Nazwa modułu Tor i fizyka"/>
          <p:cNvSpPr txBox="1"/>
          <p:nvPr/>
        </p:nvSpPr>
        <p:spPr>
          <a:xfrm>
            <a:off x="164592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Tor i fizyka</a:t>
            </a:r>
            <a:endParaRPr lang="en-US" sz="1800" dirty="0"/>
          </a:p>
        </p:txBody>
      </p:sp>
      <p:sp>
        <p:nvSpPr>
          <p:cNvPr id="7" name="Pliki modułu Tor i fizyka"/>
          <p:cNvSpPr txBox="1"/>
          <p:nvPr/>
        </p:nvSpPr>
        <p:spPr>
          <a:xfrm>
            <a:off x="1645920" y="21214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track.js · physics.js</a:t>
            </a:r>
            <a:endParaRPr lang="en-US" sz="1400" dirty="0"/>
          </a:p>
        </p:txBody>
      </p:sp>
      <p:sp>
        <p:nvSpPr>
          <p:cNvPr id="8" name="Moduł Sesja i zasady"/>
          <p:cNvSpPr/>
          <p:nvPr/>
        </p:nvSpPr>
        <p:spPr>
          <a:xfrm>
            <a:off x="6217920" y="1554480"/>
            <a:ext cx="539496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Sesja i zasady koło"/>
          <p:cNvSpPr/>
          <p:nvPr/>
        </p:nvSpPr>
        <p:spPr>
          <a:xfrm>
            <a:off x="6446520" y="178308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Sesja i zasady iko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139" y="1936699"/>
            <a:ext cx="332842" cy="332842"/>
          </a:xfrm>
          <a:prstGeom prst="rect">
            <a:avLst/>
          </a:prstGeom>
        </p:spPr>
      </p:pic>
      <p:sp>
        <p:nvSpPr>
          <p:cNvPr id="11" name="Nazwa modułu Sesja i zasady"/>
          <p:cNvSpPr txBox="1"/>
          <p:nvPr/>
        </p:nvSpPr>
        <p:spPr>
          <a:xfrm>
            <a:off x="731520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Sesja i zasady</a:t>
            </a:r>
            <a:endParaRPr lang="en-US" sz="1800" dirty="0"/>
          </a:p>
        </p:txBody>
      </p:sp>
      <p:sp>
        <p:nvSpPr>
          <p:cNvPr id="12" name="Pliki modułu Sesja i zasady"/>
          <p:cNvSpPr txBox="1"/>
          <p:nvPr/>
        </p:nvSpPr>
        <p:spPr>
          <a:xfrm>
            <a:off x="7315200" y="21214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session.js · quali.js · pit.js · racecontrol.js</a:t>
            </a:r>
            <a:endParaRPr lang="en-US" sz="1400" dirty="0"/>
          </a:p>
        </p:txBody>
      </p:sp>
      <p:sp>
        <p:nvSpPr>
          <p:cNvPr id="13" name="Moduł Grafika 3D"/>
          <p:cNvSpPr/>
          <p:nvPr/>
        </p:nvSpPr>
        <p:spPr>
          <a:xfrm>
            <a:off x="548640" y="2880360"/>
            <a:ext cx="539496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Grafika 3D koło"/>
          <p:cNvSpPr/>
          <p:nvPr/>
        </p:nvSpPr>
        <p:spPr>
          <a:xfrm>
            <a:off x="777240" y="310896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Grafika 3D ikon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3262579"/>
            <a:ext cx="332842" cy="332842"/>
          </a:xfrm>
          <a:prstGeom prst="rect">
            <a:avLst/>
          </a:prstGeom>
        </p:spPr>
      </p:pic>
      <p:sp>
        <p:nvSpPr>
          <p:cNvPr id="16" name="Nazwa modułu Grafika 3D"/>
          <p:cNvSpPr txBox="1"/>
          <p:nvPr/>
        </p:nvSpPr>
        <p:spPr>
          <a:xfrm>
            <a:off x="1645920" y="3063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Grafika 3D</a:t>
            </a:r>
            <a:endParaRPr lang="en-US" sz="1800" dirty="0"/>
          </a:p>
        </p:txBody>
      </p:sp>
      <p:sp>
        <p:nvSpPr>
          <p:cNvPr id="17" name="Pliki modułu Grafika 3D"/>
          <p:cNvSpPr txBox="1"/>
          <p:nvPr/>
        </p:nvSpPr>
        <p:spPr>
          <a:xfrm>
            <a:off x="1645920" y="34472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world3d-lite.js · view3d.js · car3d.js · cockpit3d.js</a:t>
            </a:r>
            <a:endParaRPr lang="en-US" sz="1400" dirty="0"/>
          </a:p>
        </p:txBody>
      </p:sp>
      <p:sp>
        <p:nvSpPr>
          <p:cNvPr id="18" name="Moduł Interfejs"/>
          <p:cNvSpPr/>
          <p:nvPr/>
        </p:nvSpPr>
        <p:spPr>
          <a:xfrm>
            <a:off x="6217920" y="2880360"/>
            <a:ext cx="539496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Interfejs koło"/>
          <p:cNvSpPr/>
          <p:nvPr/>
        </p:nvSpPr>
        <p:spPr>
          <a:xfrm>
            <a:off x="6446520" y="310896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Interfejs ikon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139" y="3262579"/>
            <a:ext cx="332842" cy="332842"/>
          </a:xfrm>
          <a:prstGeom prst="rect">
            <a:avLst/>
          </a:prstGeom>
        </p:spPr>
      </p:pic>
      <p:sp>
        <p:nvSpPr>
          <p:cNvPr id="21" name="Nazwa modułu Interfejs"/>
          <p:cNvSpPr txBox="1"/>
          <p:nvPr/>
        </p:nvSpPr>
        <p:spPr>
          <a:xfrm>
            <a:off x="7315200" y="3063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Interfejs</a:t>
            </a:r>
            <a:endParaRPr lang="en-US" sz="1800" dirty="0"/>
          </a:p>
        </p:txBody>
      </p:sp>
      <p:sp>
        <p:nvSpPr>
          <p:cNvPr id="22" name="Pliki modułu Interfejs"/>
          <p:cNvSpPr txBox="1"/>
          <p:nvPr/>
        </p:nvSpPr>
        <p:spPr>
          <a:xfrm>
            <a:off x="7315200" y="34472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ui.js · game.js · input.js</a:t>
            </a:r>
            <a:endParaRPr lang="en-US" sz="1400" dirty="0"/>
          </a:p>
        </p:txBody>
      </p:sp>
      <p:sp>
        <p:nvSpPr>
          <p:cNvPr id="23" name="Moduł Multiplayer"/>
          <p:cNvSpPr/>
          <p:nvPr/>
        </p:nvSpPr>
        <p:spPr>
          <a:xfrm>
            <a:off x="548640" y="4206240"/>
            <a:ext cx="539496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Multiplayer koło"/>
          <p:cNvSpPr/>
          <p:nvPr/>
        </p:nvSpPr>
        <p:spPr>
          <a:xfrm>
            <a:off x="777240" y="443484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5" name="Multiplayer ikon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9" y="4588459"/>
            <a:ext cx="332842" cy="332842"/>
          </a:xfrm>
          <a:prstGeom prst="rect">
            <a:avLst/>
          </a:prstGeom>
        </p:spPr>
      </p:pic>
      <p:sp>
        <p:nvSpPr>
          <p:cNvPr id="26" name="Nazwa modułu Multiplayer"/>
          <p:cNvSpPr txBox="1"/>
          <p:nvPr/>
        </p:nvSpPr>
        <p:spPr>
          <a:xfrm>
            <a:off x="1645920" y="4389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Multiplayer</a:t>
            </a:r>
            <a:endParaRPr lang="en-US" sz="1800" dirty="0"/>
          </a:p>
        </p:txBody>
      </p:sp>
      <p:sp>
        <p:nvSpPr>
          <p:cNvPr id="27" name="Pliki modułu Multiplayer"/>
          <p:cNvSpPr txBox="1"/>
          <p:nvPr/>
        </p:nvSpPr>
        <p:spPr>
          <a:xfrm>
            <a:off x="1645920" y="4773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net.js · multi.js (Supabase + WebRTC)</a:t>
            </a:r>
            <a:endParaRPr lang="en-US" sz="1400" dirty="0"/>
          </a:p>
        </p:txBody>
      </p:sp>
      <p:sp>
        <p:nvSpPr>
          <p:cNvPr id="28" name="Moduł Zapis i kariera"/>
          <p:cNvSpPr/>
          <p:nvPr/>
        </p:nvSpPr>
        <p:spPr>
          <a:xfrm>
            <a:off x="6217920" y="4206240"/>
            <a:ext cx="539496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Zapis i kariera koło"/>
          <p:cNvSpPr/>
          <p:nvPr/>
        </p:nvSpPr>
        <p:spPr>
          <a:xfrm>
            <a:off x="6446520" y="443484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0" name="Zapis i kariera ikona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139" y="4588459"/>
            <a:ext cx="332842" cy="332842"/>
          </a:xfrm>
          <a:prstGeom prst="rect">
            <a:avLst/>
          </a:prstGeom>
        </p:spPr>
      </p:pic>
      <p:sp>
        <p:nvSpPr>
          <p:cNvPr id="31" name="Nazwa modułu Zapis i kariera"/>
          <p:cNvSpPr txBox="1"/>
          <p:nvPr/>
        </p:nvSpPr>
        <p:spPr>
          <a:xfrm>
            <a:off x="7315200" y="4389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Zapis i kariera</a:t>
            </a:r>
            <a:endParaRPr lang="en-US" sz="1800" dirty="0"/>
          </a:p>
        </p:txBody>
      </p:sp>
      <p:sp>
        <p:nvSpPr>
          <p:cNvPr id="32" name="Pliki modułu Zapis i kariera"/>
          <p:cNvSpPr txBox="1"/>
          <p:nvPr/>
        </p:nvSpPr>
        <p:spPr>
          <a:xfrm>
            <a:off x="7315200" y="4773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career.js · data.js</a:t>
            </a:r>
            <a:endParaRPr lang="en-US" sz="1400" dirty="0"/>
          </a:p>
        </p:txBody>
      </p:sp>
      <p:sp>
        <p:nvSpPr>
          <p:cNvPr id="33" name="Biblioteki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Biblioteki: three.js i supabase-js (MIT), dołączone do repozytorium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rzut kokpitu" descr="/tmp/claude-0/-home-user-padok-f1/ad446ad7-6004-5edc-8614-94380b16ac33/scratchpad/doc/jpg/10-kokpi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01168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i="1" dirty="0">
                <a:solidFill>
                  <a:schemeClr val="bg1"/>
                </a:solidFill>
              </a:rPr>
              <a:t>Na tor!</a:t>
            </a:r>
            <a:endParaRPr lang="en-US" sz="6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8862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Pełna dokumentacja ze zrzutami: game/docs/WORLD-GP-dokumentacja.pdf · repozytorium danropl/padok-f1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LD GP">
  <a:themeElements>
    <a:clrScheme name="WORLD GP">
      <a:dk1>
        <a:srgbClr val="111318"/>
      </a:dk1>
      <a:lt1>
        <a:srgbClr val="FFFFFF"/>
      </a:lt1>
      <a:dk2>
        <a:srgbClr val="1E2129"/>
      </a:dk2>
      <a:lt2>
        <a:srgbClr val="A9AFBA"/>
      </a:lt2>
      <a:accent1>
        <a:srgbClr val="E10600"/>
      </a:accent1>
      <a:accent2>
        <a:srgbClr val="FFC400"/>
      </a:accent2>
      <a:accent3>
        <a:srgbClr val="2BD576"/>
      </a:accent3>
      <a:accent4>
        <a:srgbClr val="3AA0FF"/>
      </a:accent4>
      <a:accent5>
        <a:srgbClr val="8A8F99"/>
      </a:accent5>
      <a:accent6>
        <a:srgbClr val="FF7A00"/>
      </a:accent6>
      <a:hlink>
        <a:srgbClr val="3AA0FF"/>
      </a:hlink>
      <a:folHlink>
        <a:srgbClr val="A9AFBA"/>
      </a:folHlink>
    </a:clrScheme>
    <a:fontScheme name="WORLD G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GP — prezentacja</dc:title>
  <dc:subject>PptxGenJS Presentation</dc:subject>
  <dc:creator>WORLD GP</dc:creator>
  <cp:lastModifiedBy>WORLD GP</cp:lastModifiedBy>
  <cp:revision>1</cp:revision>
  <dcterms:created xsi:type="dcterms:W3CDTF">2026-10-15T07:42:36Z</dcterms:created>
  <dcterms:modified xsi:type="dcterms:W3CDTF">2026-10-15T07:42:36Z</dcterms:modified>
</cp:coreProperties>
</file>